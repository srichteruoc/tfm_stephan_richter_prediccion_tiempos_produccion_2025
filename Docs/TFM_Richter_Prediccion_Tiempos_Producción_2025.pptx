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5" autoAdjust="0"/>
    <p:restoredTop sz="95343" autoAdjust="0"/>
  </p:normalViewPr>
  <p:slideViewPr>
    <p:cSldViewPr snapToGrid="0" snapToObjects="1">
      <p:cViewPr varScale="1">
        <p:scale>
          <a:sx n="136" d="100"/>
          <a:sy n="136" d="100"/>
        </p:scale>
        <p:origin x="894" y="3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7" d="100"/>
          <a:sy n="77" d="100"/>
        </p:scale>
        <p:origin x="3317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7305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5629FBE-A524-E06B-80AE-6A376B71769C}"/>
              </a:ext>
            </a:extLst>
          </p:cNvPr>
          <p:cNvSpPr txBox="1"/>
          <p:nvPr/>
        </p:nvSpPr>
        <p:spPr>
          <a:xfrm>
            <a:off x="1182757" y="1392763"/>
            <a:ext cx="2643808" cy="6288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s-ES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Buenos días/tardes. Mi nombre es Stephan Richter y voy a presentar mi Trabajo Fin de Máster titulado "Predicción de Tiempos de Producción mediante Machine </a:t>
            </a:r>
            <a:r>
              <a:rPr lang="es-ES" sz="180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Learning</a:t>
            </a:r>
            <a:r>
              <a:rPr lang="es-ES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Integración de Datos Reales y Sintéticos en Procesos de Corte Láser y Plegado".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s-ES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Este trabajo combina mi experiencia profesional de más de 15 años en el sector de software CAD/CAM para manufactura con las técnicas de ciencia de datos aprendidas en este máster.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6242" y="810816"/>
            <a:ext cx="2131516" cy="260896"/>
          </a:xfrm>
          <a:prstGeom prst="roundRect">
            <a:avLst>
              <a:gd name="adj" fmla="val 58414"/>
            </a:avLst>
          </a:prstGeom>
          <a:solidFill>
            <a:schemeClr val="accent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79237" y="867966"/>
            <a:ext cx="17855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FIN DE MÁSTER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1749647" y="1376511"/>
            <a:ext cx="564470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6B35"/>
                </a:solidFill>
                <a:latin typeface="Arial" pitchFamily="34" charset="0"/>
                <a:cs typeface="Arial" pitchFamily="34" charset="-120"/>
              </a:rPr>
              <a:t>Predicción de Tiempos de </a:t>
            </a:r>
            <a:r>
              <a:rPr lang="en-US" sz="2400" b="1" dirty="0" err="1">
                <a:solidFill>
                  <a:srgbClr val="FF6B35"/>
                </a:solidFill>
                <a:latin typeface="Arial" pitchFamily="34" charset="0"/>
                <a:cs typeface="Arial" pitchFamily="34" charset="-120"/>
              </a:rPr>
              <a:t>Producción</a:t>
            </a:r>
            <a:endParaRPr lang="en-US" sz="2400" b="1" dirty="0">
              <a:solidFill>
                <a:srgbClr val="FF6B3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478310" y="1799332"/>
            <a:ext cx="418738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spcBef>
                <a:spcPts val="450"/>
              </a:spcBef>
              <a:buNone/>
            </a:pPr>
            <a:r>
              <a:rPr lang="en-US" sz="24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mediante</a:t>
            </a:r>
            <a:r>
              <a:rPr lang="en-US" sz="2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</a:t>
            </a:r>
            <a:r>
              <a:rPr lang="en-US" sz="2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68730" y="2507903"/>
            <a:ext cx="66065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de Datos Reales y Sintéticos 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8730" y="2759273"/>
            <a:ext cx="66065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de Corte Láser y Plegado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91000" y="3353544"/>
            <a:ext cx="762000" cy="28575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13207" y="3763119"/>
            <a:ext cx="11175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Richter</a:t>
            </a:r>
            <a:endParaRPr lang="en-US" sz="1125" dirty="0">
              <a:solidFill>
                <a:schemeClr val="accent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512555" y="4172694"/>
            <a:ext cx="2118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Bef>
                <a:spcPts val="450"/>
              </a:spcBef>
            </a:pPr>
            <a:r>
              <a:rPr lang="en-US" sz="9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cs typeface="Arial" pitchFamily="34" charset="-120"/>
              </a:rPr>
              <a:t>Universitat</a:t>
            </a: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cs typeface="Arial" pitchFamily="34" charset="-120"/>
              </a:rPr>
              <a:t> Oberta de Catalunya (UOC)</a:t>
            </a:r>
            <a:endParaRPr lang="en-US" sz="900" dirty="0"/>
          </a:p>
          <a:p>
            <a:pPr marL="0" indent="0" algn="ctr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Máster</a:t>
            </a: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Universitario </a:t>
            </a:r>
            <a:r>
              <a:rPr lang="en-US" sz="9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Ciencia de Datos (Data Science)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Desafío Industrial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552450"/>
            <a:ext cx="47625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1191816"/>
            <a:ext cx="4589115" cy="830312"/>
          </a:xfrm>
          <a:prstGeom prst="roundRect">
            <a:avLst>
              <a:gd name="adj" fmla="val 6883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325166"/>
            <a:ext cx="44088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</a:t>
            </a:r>
            <a:r>
              <a:rPr lang="en-US" sz="9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 CRÍTICO?</a:t>
            </a:r>
            <a:endParaRPr lang="en-US" sz="9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19100" y="1542306"/>
            <a:ext cx="440886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estimación precisa de tiempos determina la competitividad: planificación de recursos, presupuestos y plazos.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85750" y="2136428"/>
            <a:ext cx="4589115" cy="1683990"/>
          </a:xfrm>
          <a:prstGeom prst="roundRect">
            <a:avLst>
              <a:gd name="adj" fmla="val 3394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2269778"/>
            <a:ext cx="44088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OBSTÁCULOS ACTUALES: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9100" y="2505968"/>
            <a:ext cx="4322415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datos históricos etiquetados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 CAD complejo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lentos y dependientes de expertos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variabilidad entre máquinas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5750" y="3934718"/>
            <a:ext cx="4589115" cy="521791"/>
          </a:xfrm>
          <a:prstGeom prst="roundRect">
            <a:avLst>
              <a:gd name="adj" fmla="val 10953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4049018"/>
            <a:ext cx="444772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recolección y etiquetado de datos representa un obstáculo significativo para Machine Learning en la industria"</a:t>
            </a:r>
            <a:endParaRPr lang="en-US" sz="825" dirty="0"/>
          </a:p>
        </p:txBody>
      </p:sp>
      <p:pic>
        <p:nvPicPr>
          <p:cNvPr id="12" name="Image 0" descr="/tmp/rasterized-gradient-864357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465" y="1699320"/>
            <a:ext cx="3754785" cy="224968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99089" y="1927920"/>
            <a:ext cx="3363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DISPONIBLES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299089" y="2202210"/>
            <a:ext cx="33635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Bef>
                <a:spcPts val="900"/>
              </a:spcBef>
              <a:spcAft>
                <a:spcPts val="450"/>
              </a:spcAft>
              <a:buNone/>
            </a:pPr>
            <a:r>
              <a:rPr lang="en-US" sz="4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0.89%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5299089" y="2792760"/>
            <a:ext cx="3363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artículos con tiempos registrados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332065" y="3136553"/>
            <a:ext cx="329758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5856454" y="3274665"/>
            <a:ext cx="37268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5856454" y="3587055"/>
            <a:ext cx="372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427442" y="3274665"/>
            <a:ext cx="68054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24,508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7427442" y="3587055"/>
            <a:ext cx="68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artículos totales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8576" y="223986"/>
            <a:ext cx="2406848" cy="279946"/>
          </a:xfrm>
          <a:prstGeom prst="roundRect">
            <a:avLst>
              <a:gd name="adj" fmla="val 54439"/>
            </a:avLst>
          </a:prstGeom>
          <a:solidFill>
            <a:srgbClr val="FF6B35">
              <a:alpha val="20000"/>
            </a:srgbClr>
          </a:solidFill>
          <a:ln w="9525">
            <a:solidFill>
              <a:srgbClr val="FF6B3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09671" y="290661"/>
            <a:ext cx="21246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INVESTIGACIÓN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1710785" y="846832"/>
            <a:ext cx="57224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posible entrenar modelos de Machine Learning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69078" y="1223963"/>
            <a:ext cx="56058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45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precisos con </a:t>
            </a: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del 1%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datos etiquetados?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95750" y="1963043"/>
            <a:ext cx="95250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2410718"/>
            <a:ext cx="7239000" cy="1080046"/>
          </a:xfrm>
          <a:prstGeom prst="roundRect">
            <a:avLst>
              <a:gd name="adj" fmla="val 8819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91006" y="2601218"/>
            <a:ext cx="67619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HIPÓTESIS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191006" y="2843064"/>
            <a:ext cx="6761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</a:t>
            </a: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sintéticos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generados por software industrial pueden complementar los datos reales escasos para crear modelos predictivos viables.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5657" y="4043214"/>
            <a:ext cx="205968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65657" y="4473625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Sintéticos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5657" y="4652665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industrial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542157" y="4043214"/>
            <a:ext cx="205968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542157" y="4473625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Calibración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42157" y="4652665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con datos reales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018657" y="4043214"/>
            <a:ext cx="205968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018657" y="4473625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18657" y="4652665"/>
            <a:ext cx="205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Tiempos precisos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Solución: Enfoque Híbrido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552450"/>
            <a:ext cx="47625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09650" y="1238250"/>
            <a:ext cx="1524000" cy="851446"/>
          </a:xfrm>
          <a:prstGeom prst="roundRect">
            <a:avLst>
              <a:gd name="adj" fmla="val 6712"/>
            </a:avLst>
          </a:prstGeom>
          <a:solidFill>
            <a:srgbClr val="2D4A6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427" y="1352550"/>
            <a:ext cx="12824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0427" y="1676400"/>
            <a:ext cx="12824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TruTops Calculate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130427" y="1842046"/>
            <a:ext cx="1282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46,189 registros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09850" y="1530548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76550" y="1238250"/>
            <a:ext cx="1524000" cy="851446"/>
          </a:xfrm>
          <a:prstGeom prst="roundRect">
            <a:avLst>
              <a:gd name="adj" fmla="val 6712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997327" y="1352550"/>
            <a:ext cx="12824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97327" y="1676400"/>
            <a:ext cx="12824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PRE-Calibración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997327" y="1842046"/>
            <a:ext cx="1282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 datos reales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476750" y="1530548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43450" y="1238250"/>
            <a:ext cx="1524000" cy="851446"/>
          </a:xfrm>
          <a:prstGeom prst="roundRect">
            <a:avLst>
              <a:gd name="adj" fmla="val 6712"/>
            </a:avLst>
          </a:prstGeom>
          <a:solidFill>
            <a:srgbClr val="2D4A6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64227" y="1352550"/>
            <a:ext cx="12824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64227" y="1676400"/>
            <a:ext cx="12824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 ML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864227" y="1842046"/>
            <a:ext cx="1282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Ridge, RF, GB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43650" y="1530548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10350" y="1238250"/>
            <a:ext cx="1524000" cy="851446"/>
          </a:xfrm>
          <a:prstGeom prst="roundRect">
            <a:avLst>
              <a:gd name="adj" fmla="val 6712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31127" y="1352550"/>
            <a:ext cx="12824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31127" y="1676400"/>
            <a:ext cx="12824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731127" y="1842046"/>
            <a:ext cx="1282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Tiempos en seg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85750" y="2469803"/>
            <a:ext cx="4191000" cy="1190327"/>
          </a:xfrm>
          <a:prstGeom prst="roundRect">
            <a:avLst>
              <a:gd name="adj" fmla="val 4801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9100" y="2603153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SON LOS DATOS SINTÉTICOS?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9100" y="2839343"/>
            <a:ext cx="400278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Tiempos calculados por software industrial que simula físicamente los procesos de corte láser y plegado.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19100" y="3227784"/>
            <a:ext cx="3924300" cy="298996"/>
          </a:xfrm>
          <a:prstGeom prst="roundRect">
            <a:avLst>
              <a:gd name="adj" fmla="val 12743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5300" y="330398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2,431</a:t>
            </a: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geometrías × </a:t>
            </a:r>
            <a:r>
              <a:rPr lang="en-US" sz="825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materiales = </a:t>
            </a:r>
            <a:r>
              <a:rPr lang="en-US" sz="825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46,189</a:t>
            </a: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cálculos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67250" y="2223046"/>
            <a:ext cx="4191000" cy="1683990"/>
          </a:xfrm>
          <a:prstGeom prst="roundRect">
            <a:avLst>
              <a:gd name="adj" fmla="val 3394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00600" y="2356396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FUNCIONA?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2592586"/>
            <a:ext cx="39243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simulador captura la </a:t>
            </a: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física</a:t>
            </a: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proceso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sintéticos son </a:t>
            </a: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calibración cierra el </a:t>
            </a: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"domain gap"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Pocos datos reales </a:t>
            </a: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escalan</a:t>
            </a: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entrenamiento</a:t>
            </a:r>
            <a:endParaRPr lang="en-US" sz="1350" dirty="0"/>
          </a:p>
        </p:txBody>
      </p:sp>
      <p:pic>
        <p:nvPicPr>
          <p:cNvPr id="31" name="Image 0" descr="/tmp/rasterized-gradient-1d1f85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4040386"/>
            <a:ext cx="8572500" cy="38859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394335" y="4154686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 clave: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Primera validación empírica de datos sintéticos de TruTops Calculate para predicción de tiempos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Metodología: CRISP-DM Adaptado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552450"/>
            <a:ext cx="47625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178132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7067" y="1762274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1746200"/>
            <a:ext cx="4265265" cy="298996"/>
          </a:xfrm>
          <a:prstGeom prst="roundRect">
            <a:avLst>
              <a:gd name="adj" fmla="val 12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3888" y="1746200"/>
            <a:ext cx="0" cy="298996"/>
          </a:xfrm>
          <a:prstGeom prst="line">
            <a:avLst/>
          </a:prstGeom>
          <a:noFill/>
          <a:ln w="28575">
            <a:solidFill>
              <a:srgbClr val="1A29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52475" y="1822400"/>
            <a:ext cx="4088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Comprensión del Negocio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85750" y="215652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7067" y="213747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600" y="2121396"/>
            <a:ext cx="4265265" cy="298996"/>
          </a:xfrm>
          <a:prstGeom prst="roundRect">
            <a:avLst>
              <a:gd name="adj" fmla="val 12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3888" y="2121396"/>
            <a:ext cx="0" cy="298996"/>
          </a:xfrm>
          <a:prstGeom prst="line">
            <a:avLst/>
          </a:prstGeom>
          <a:noFill/>
          <a:ln w="28575">
            <a:solidFill>
              <a:srgbClr val="2D4A6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52475" y="2197596"/>
            <a:ext cx="4088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Comprensión de Datos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85750" y="253171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7067" y="251266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2496592"/>
            <a:ext cx="4265265" cy="298996"/>
          </a:xfrm>
          <a:prstGeom prst="roundRect">
            <a:avLst>
              <a:gd name="adj" fmla="val 12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3888" y="2496592"/>
            <a:ext cx="0" cy="298996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52475" y="2572792"/>
            <a:ext cx="4088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Sintética ⭐ - 46,189 registros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85750" y="290691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7067" y="288786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2871788"/>
            <a:ext cx="4265265" cy="298996"/>
          </a:xfrm>
          <a:prstGeom prst="roundRect">
            <a:avLst>
              <a:gd name="adj" fmla="val 12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23888" y="2871788"/>
            <a:ext cx="0" cy="298996"/>
          </a:xfrm>
          <a:prstGeom prst="line">
            <a:avLst/>
          </a:prstGeom>
          <a:noFill/>
          <a:ln w="28575">
            <a:solidFill>
              <a:srgbClr val="2D4A6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52475" y="2947988"/>
            <a:ext cx="4088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de Datos + Calibración PRE/POST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85750" y="328210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7067" y="3263057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9600" y="3246983"/>
            <a:ext cx="4265265" cy="298996"/>
          </a:xfrm>
          <a:prstGeom prst="roundRect">
            <a:avLst>
              <a:gd name="adj" fmla="val 12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23888" y="3246983"/>
            <a:ext cx="0" cy="298996"/>
          </a:xfrm>
          <a:prstGeom prst="line">
            <a:avLst/>
          </a:prstGeom>
          <a:noFill/>
          <a:ln w="28575">
            <a:solidFill>
              <a:srgbClr val="2D4A6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752475" y="3323183"/>
            <a:ext cx="4088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- Ridge, Random Forest, Gradient Boost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85750" y="36573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7067" y="363825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09600" y="3622179"/>
            <a:ext cx="4265265" cy="298996"/>
          </a:xfrm>
          <a:prstGeom prst="roundRect">
            <a:avLst>
              <a:gd name="adj" fmla="val 127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23888" y="3622179"/>
            <a:ext cx="0" cy="298996"/>
          </a:xfrm>
          <a:prstGeom prst="line">
            <a:avLst/>
          </a:prstGeom>
          <a:noFill/>
          <a:ln w="28575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752475" y="3698379"/>
            <a:ext cx="4088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con datos de producción real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103465" y="1367879"/>
            <a:ext cx="3754785" cy="1365796"/>
          </a:xfrm>
          <a:prstGeom prst="roundRect">
            <a:avLst>
              <a:gd name="adj" fmla="val 4184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36815" y="1501229"/>
            <a:ext cx="35578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ADAPTACIONES CLAVE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5236815" y="1724025"/>
            <a:ext cx="3488085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sintética como subfase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dual: intra e inter-dominio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Calibración PRE/POST emergente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103465" y="2847975"/>
            <a:ext cx="3754785" cy="961876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36815" y="2981325"/>
            <a:ext cx="35578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5232950" y="3204121"/>
            <a:ext cx="3942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232950" y="3543151"/>
            <a:ext cx="3942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750954" y="3204121"/>
            <a:ext cx="58323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750954" y="3543151"/>
            <a:ext cx="58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457423" y="3204121"/>
            <a:ext cx="4484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457423" y="3543151"/>
            <a:ext cx="4484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103465" y="3924151"/>
            <a:ext cx="3754785" cy="375196"/>
          </a:xfrm>
          <a:prstGeom prst="roundRect">
            <a:avLst>
              <a:gd name="adj" fmla="val 15232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217765" y="4038451"/>
            <a:ext cx="35967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Naturaleza iterativa:</a:t>
            </a: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experimento resolvió problemas del anterior.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Datos Sintéticos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552450"/>
            <a:ext cx="47625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1588145"/>
            <a:ext cx="4191000" cy="592336"/>
          </a:xfrm>
          <a:prstGeom prst="roundRect">
            <a:avLst>
              <a:gd name="adj" fmla="val 9648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1702445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TruTops Calculate (TRUMPF)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0050" y="1919585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que </a:t>
            </a:r>
            <a:r>
              <a:rPr lang="en-US" sz="825" dirty="0" err="1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</a:t>
            </a: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tiempos</a:t>
            </a: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825" dirty="0" err="1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consumos</a:t>
            </a: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procesos de corte láser y plegado.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85750" y="2275731"/>
            <a:ext cx="4191000" cy="1152079"/>
          </a:xfrm>
          <a:prstGeom prst="roundRect">
            <a:avLst>
              <a:gd name="adj" fmla="val 4961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2390031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00050" y="2612827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2,431 geometrías DXF únicas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00050" y="2797522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× 19 materiales diferentes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00050" y="2982218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Cálculo automatizado vía Python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00050" y="3166914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46,189 registros sintéticos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85750" y="3523059"/>
            <a:ext cx="4191000" cy="556171"/>
          </a:xfrm>
          <a:prstGeom prst="roundRect">
            <a:avLst>
              <a:gd name="adj" fmla="val 10276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1000" y="3618309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Capturadas:</a:t>
            </a:r>
            <a:endParaRPr lang="en-US" sz="825" dirty="0"/>
          </a:p>
        </p:txBody>
      </p:sp>
      <p:pic>
        <p:nvPicPr>
          <p:cNvPr id="15" name="Image 0" descr="/tmp/rasterized-gradient-488791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1380381"/>
            <a:ext cx="4191000" cy="95413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800600" y="1513731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DESCUBRIMIENTO CRÍTICO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800600" y="1717477"/>
            <a:ext cx="400278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tiempo de </a:t>
            </a: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(3 min)</a:t>
            </a: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representaba el 66% del tiempo total, enmascarando los patrones geométricos.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800600" y="2067818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Solución:</a:t>
            </a: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Restar tiempo fijo antes del modelado.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667250" y="2429768"/>
            <a:ext cx="4191000" cy="916186"/>
          </a:xfrm>
          <a:prstGeom prst="roundRect">
            <a:avLst>
              <a:gd name="adj" fmla="val 6238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00600" y="256311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 DOMINANTE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794668" y="2785914"/>
            <a:ext cx="60509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5527179" y="2925961"/>
            <a:ext cx="27145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cutting_length</a:t>
            </a: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predice 96% de la variabilidad del tiempo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67250" y="3441204"/>
            <a:ext cx="4191000" cy="845641"/>
          </a:xfrm>
          <a:prstGeom prst="roundRect">
            <a:avLst>
              <a:gd name="adj" fmla="val 6758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81550" y="3555504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Evolución de Experimentos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781550" y="3759250"/>
            <a:ext cx="1269950" cy="413296"/>
          </a:xfrm>
          <a:prstGeom prst="roundRect">
            <a:avLst>
              <a:gd name="adj" fmla="val 921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27143" y="3816400"/>
            <a:ext cx="117876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1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4827143" y="3955405"/>
            <a:ext cx="11787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27700" y="3759250"/>
            <a:ext cx="1269950" cy="413296"/>
          </a:xfrm>
          <a:prstGeom prst="roundRect">
            <a:avLst>
              <a:gd name="adj" fmla="val 921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73294" y="3816400"/>
            <a:ext cx="117876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3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6173294" y="3955405"/>
            <a:ext cx="11787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473851" y="3759250"/>
            <a:ext cx="1269950" cy="413296"/>
          </a:xfrm>
          <a:prstGeom prst="roundRect">
            <a:avLst>
              <a:gd name="adj" fmla="val 9219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519444" y="3816400"/>
            <a:ext cx="117876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5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7519444" y="3955405"/>
            <a:ext cx="11787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2,432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Hallazgo Clave: PRE vs POST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552450"/>
            <a:ext cx="47625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931664"/>
            <a:ext cx="4210050" cy="1354336"/>
          </a:xfrm>
          <a:prstGeom prst="roundRect">
            <a:avLst>
              <a:gd name="adj" fmla="val 7033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10311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6C757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1579" y="1084064"/>
            <a:ext cx="1628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1124099"/>
            <a:ext cx="11488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POST-Calibración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26964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 con sintéticos, ajusta después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803910" y="1668810"/>
            <a:ext cx="53496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0.494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803910" y="1981200"/>
            <a:ext cx="534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442680" y="1668810"/>
            <a:ext cx="53496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442680" y="1981200"/>
            <a:ext cx="534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48200" y="931664"/>
            <a:ext cx="4210050" cy="1354336"/>
          </a:xfrm>
          <a:prstGeom prst="roundRect">
            <a:avLst>
              <a:gd name="adj" fmla="val 7033"/>
            </a:avLst>
          </a:prstGeom>
          <a:solidFill>
            <a:srgbClr val="28A745">
              <a:alpha val="15000"/>
            </a:srgbClr>
          </a:solidFill>
          <a:ln w="19050">
            <a:solidFill>
              <a:srgbClr val="28A74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9650" y="110311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54029" y="1084064"/>
            <a:ext cx="1628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4450" y="1124099"/>
            <a:ext cx="1273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PRE-Calibración ⭐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19650" y="1426964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 antes del entrenamiento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66360" y="1668810"/>
            <a:ext cx="53496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7DD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0.606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166360" y="1981200"/>
            <a:ext cx="534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05130" y="1668810"/>
            <a:ext cx="53496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7DD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805130" y="1981200"/>
            <a:ext cx="534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85750" y="2400300"/>
            <a:ext cx="8572500" cy="441871"/>
          </a:xfrm>
          <a:prstGeom prst="roundRect">
            <a:avLst>
              <a:gd name="adj" fmla="val 12934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16611" y="2514600"/>
            <a:ext cx="851077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mejora en R² con PRE-calibración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5750" y="2956471"/>
            <a:ext cx="4210050" cy="1327696"/>
          </a:xfrm>
          <a:prstGeom prst="roundRect">
            <a:avLst>
              <a:gd name="adj" fmla="val 430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0050" y="3070771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FUNCIONA PRE?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00050" y="3293566"/>
            <a:ext cx="39814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aprende con datos calibrados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sintéticos + reales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k se incorpora al aprendizaje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48200" y="3207990"/>
            <a:ext cx="4210050" cy="824657"/>
          </a:xfrm>
          <a:prstGeom prst="roundRect">
            <a:avLst>
              <a:gd name="adj" fmla="val 693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62500" y="3322290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DE CALIBRACIÓN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762500" y="3545086"/>
            <a:ext cx="53708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1.9×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5403354" y="3665041"/>
            <a:ext cx="2083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Tiempos reales son 1.9× mayores que sintéticos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85750" y="4398466"/>
            <a:ext cx="8572500" cy="337096"/>
          </a:xfrm>
          <a:prstGeom prst="roundRect">
            <a:avLst>
              <a:gd name="adj" fmla="val 1695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7180" y="4493716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Contribución:</a:t>
            </a: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Primera comparación sistemática de calibración sintético-real en contexto industrial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Resultados: Corte Láser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552450"/>
            <a:ext cx="476250" cy="28575"/>
          </a:xfrm>
          <a:prstGeom prst="rect">
            <a:avLst/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rasterized-gradient-42d1ef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124099"/>
            <a:ext cx="3771900" cy="11790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8150" y="1276499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GLOBALES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421577" y="1518345"/>
            <a:ext cx="169049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421577" y="2017365"/>
            <a:ext cx="16904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global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2231327" y="1518345"/>
            <a:ext cx="169049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2231327" y="2017365"/>
            <a:ext cx="16904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MAE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85750" y="2417415"/>
            <a:ext cx="3771900" cy="1055340"/>
          </a:xfrm>
          <a:prstGeom prst="roundRect">
            <a:avLst>
              <a:gd name="adj" fmla="val 9026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03479" y="2569815"/>
            <a:ext cx="35364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86.4%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03479" y="3160365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predicciones con error menor a 30 segundos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85750" y="3587055"/>
            <a:ext cx="3771900" cy="956072"/>
          </a:xfrm>
          <a:prstGeom prst="roundRect">
            <a:avLst>
              <a:gd name="adj" fmla="val 5978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00050" y="3701355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por Material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00050" y="3924151"/>
            <a:ext cx="1733550" cy="504676"/>
          </a:xfrm>
          <a:prstGeom prst="roundRect">
            <a:avLst>
              <a:gd name="adj" fmla="val 7549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60439" y="4000351"/>
            <a:ext cx="16127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60439" y="4232672"/>
            <a:ext cx="16127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mayor a 0.7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2209800" y="3924151"/>
            <a:ext cx="1733550" cy="504676"/>
          </a:xfrm>
          <a:prstGeom prst="roundRect">
            <a:avLst>
              <a:gd name="adj" fmla="val 7549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270189" y="4000351"/>
            <a:ext cx="16127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270189" y="4232672"/>
            <a:ext cx="16127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inoxidables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248150" y="1632645"/>
            <a:ext cx="4610100" cy="1022896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381500" y="1765995"/>
            <a:ext cx="44302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Mejores Materiales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381500" y="2007840"/>
            <a:ext cx="2137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1.4301-15 (Inox)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542723" y="2007840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R²=0.92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666673" y="2007840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3.2s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381500" y="2198340"/>
            <a:ext cx="2137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1.4301-20 (Inox)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542723" y="2198340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R²=0.89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666673" y="2198340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6.8s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381500" y="2388840"/>
            <a:ext cx="2137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St37-20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542723" y="2388840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R²=0.85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666673" y="2388840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11.2s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248150" y="2769840"/>
            <a:ext cx="4610100" cy="794296"/>
          </a:xfrm>
          <a:prstGeom prst="roundRect">
            <a:avLst>
              <a:gd name="adj" fmla="val 7195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381500" y="2903190"/>
            <a:ext cx="44302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de Modelos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4381500" y="3145036"/>
            <a:ext cx="1397050" cy="285750"/>
          </a:xfrm>
          <a:prstGeom prst="roundRect">
            <a:avLst>
              <a:gd name="adj" fmla="val 13333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445254" y="3221236"/>
            <a:ext cx="12695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- Mejor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854750" y="3145036"/>
            <a:ext cx="1397050" cy="285750"/>
          </a:xfrm>
          <a:prstGeom prst="roundRect">
            <a:avLst>
              <a:gd name="adj" fmla="val 13333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918503" y="3221236"/>
            <a:ext cx="12695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27999" y="3145036"/>
            <a:ext cx="1397050" cy="285750"/>
          </a:xfrm>
          <a:prstGeom prst="roundRect">
            <a:avLst>
              <a:gd name="adj" fmla="val 13333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7391753" y="3221236"/>
            <a:ext cx="12695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248150" y="3678436"/>
            <a:ext cx="4610100" cy="356146"/>
          </a:xfrm>
          <a:prstGeom prst="roundRect">
            <a:avLst>
              <a:gd name="adj" fmla="val 16047"/>
            </a:avLst>
          </a:prstGeom>
          <a:solidFill>
            <a:srgbClr val="FFF3CD"/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352925" y="3783211"/>
            <a:ext cx="44885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Datos sintéticos demasiado limpios - modelos simples generalizan mejor.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552450"/>
            <a:ext cx="47625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1041350"/>
            <a:ext cx="4114800" cy="312390"/>
          </a:xfrm>
          <a:prstGeom prst="roundRect">
            <a:avLst>
              <a:gd name="adj" fmla="val 18294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0619" y="1117550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ENTRENAMIENTO (Offline)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5750" y="1429941"/>
            <a:ext cx="4114800" cy="3157835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1544241"/>
            <a:ext cx="1905000" cy="491430"/>
          </a:xfrm>
          <a:prstGeom prst="roundRect">
            <a:avLst>
              <a:gd name="adj" fmla="val 7753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8724" y="1620441"/>
            <a:ext cx="1787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Sintéticos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8724" y="1772841"/>
            <a:ext cx="17876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46,189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81250" y="1544241"/>
            <a:ext cx="1905000" cy="491430"/>
          </a:xfrm>
          <a:prstGeom prst="roundRect">
            <a:avLst>
              <a:gd name="adj" fmla="val 775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39924" y="1620441"/>
            <a:ext cx="1787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Reales (50%)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439924" y="1772841"/>
            <a:ext cx="17876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1188" y="2111871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0050" y="2355652"/>
            <a:ext cx="3886200" cy="318046"/>
          </a:xfrm>
          <a:prstGeom prst="roundRect">
            <a:avLst>
              <a:gd name="adj" fmla="val 11979"/>
            </a:avLst>
          </a:prstGeom>
          <a:solidFill>
            <a:srgbClr val="FFF3E0"/>
          </a:solidFill>
          <a:ln w="9525">
            <a:solidFill>
              <a:srgbClr val="FF6B3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8628" y="2441377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Calcular factor k = 1.9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61188" y="2730847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0050" y="2974628"/>
            <a:ext cx="3886200" cy="298996"/>
          </a:xfrm>
          <a:prstGeom prst="roundRect">
            <a:avLst>
              <a:gd name="adj" fmla="val 12743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8912" y="305082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Transformar: ỹ = k × y_sint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61188" y="3330773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0050" y="3574554"/>
            <a:ext cx="3886200" cy="298996"/>
          </a:xfrm>
          <a:prstGeom prst="roundRect">
            <a:avLst>
              <a:gd name="adj" fmla="val 12743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8912" y="36507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Entrenar combinado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61188" y="3930700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0050" y="4174480"/>
            <a:ext cx="3886200" cy="298996"/>
          </a:xfrm>
          <a:prstGeom prst="roundRect">
            <a:avLst>
              <a:gd name="adj" fmla="val 12743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38912" y="425068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.pkl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591050" y="1045964"/>
            <a:ext cx="4114800" cy="312390"/>
          </a:xfrm>
          <a:prstGeom prst="roundRect">
            <a:avLst>
              <a:gd name="adj" fmla="val 18294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85919" y="1122164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PREDICCIÓN (Online)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91050" y="1434554"/>
            <a:ext cx="4114800" cy="3148608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05350" y="1548854"/>
            <a:ext cx="3886200" cy="489496"/>
          </a:xfrm>
          <a:prstGeom prst="roundRect">
            <a:avLst>
              <a:gd name="adj" fmla="val 778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63643" y="1644104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Nueva pieza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763643" y="1809750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DXF + Material + Espesor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66488" y="2114550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05350" y="2358330"/>
            <a:ext cx="3886200" cy="28575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44212" y="2434530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Extraer features (bbox_area, aspect_ratio)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66488" y="2701230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05350" y="2945011"/>
            <a:ext cx="3886200" cy="28575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44212" y="3021211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Seleccionar modelo (por material o global)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66488" y="3287911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05350" y="3531691"/>
            <a:ext cx="3886200" cy="285750"/>
          </a:xfrm>
          <a:prstGeom prst="roundRect">
            <a:avLst>
              <a:gd name="adj" fmla="val 13333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44212" y="3607891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7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</a:t>
            </a: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Tiempo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666488" y="3874591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05350" y="4118372"/>
            <a:ext cx="3886200" cy="350490"/>
          </a:xfrm>
          <a:prstGeom prst="roundRect">
            <a:avLst>
              <a:gd name="adj" fmla="val 10870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63643" y="4213622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Tiempo + Confianza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Práctica: Un Ejemplo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552450"/>
            <a:ext cx="47625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1217265"/>
            <a:ext cx="3000375" cy="3194596"/>
          </a:xfrm>
          <a:prstGeom prst="roundRect">
            <a:avLst>
              <a:gd name="adj" fmla="val 317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369665"/>
            <a:ext cx="27494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PIEZA DE ENTRADA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38150" y="1611511"/>
            <a:ext cx="2695575" cy="89535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1725811"/>
            <a:ext cx="2466975" cy="666750"/>
          </a:xfrm>
          <a:prstGeom prst="rect">
            <a:avLst/>
          </a:prstGeom>
          <a:noFill/>
          <a:ln w="19050">
            <a:solidFill>
              <a:srgbClr val="1A29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35831" y="1902023"/>
            <a:ext cx="1700213" cy="314325"/>
          </a:xfrm>
          <a:prstGeom prst="rect">
            <a:avLst/>
          </a:prstGeom>
          <a:noFill/>
          <a:ln w="19050">
            <a:solidFill>
              <a:srgbClr val="FF6B3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04168" y="1962448"/>
            <a:ext cx="133350" cy="133350"/>
          </a:xfrm>
          <a:prstGeom prst="roundRect">
            <a:avLst>
              <a:gd name="adj" fmla="val 685714"/>
            </a:avLst>
          </a:prstGeom>
          <a:noFill/>
          <a:ln w="19050">
            <a:solidFill>
              <a:srgbClr val="FF6B3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72457" y="2060674"/>
            <a:ext cx="95250" cy="95250"/>
          </a:xfrm>
          <a:prstGeom prst="roundRect">
            <a:avLst>
              <a:gd name="adj" fmla="val 960000"/>
            </a:avLst>
          </a:prstGeom>
          <a:noFill/>
          <a:ln w="19050">
            <a:solidFill>
              <a:srgbClr val="FF6B3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8150" y="2621161"/>
            <a:ext cx="2695575" cy="1638300"/>
          </a:xfrm>
          <a:prstGeom prst="roundRect">
            <a:avLst>
              <a:gd name="adj" fmla="val 232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400" y="2716411"/>
            <a:ext cx="1021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87711" y="2716411"/>
            <a:ext cx="6913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St37-20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3400" y="3021211"/>
            <a:ext cx="1021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Espesor: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87711" y="3021211"/>
            <a:ext cx="615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3400" y="3326011"/>
            <a:ext cx="1021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bbox: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87711" y="3326011"/>
            <a:ext cx="1058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45,230 mm²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3400" y="3630811"/>
            <a:ext cx="10219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ratio: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87711" y="3764161"/>
            <a:ext cx="3782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09975" y="264318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93986" y="2694682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pic>
        <p:nvPicPr>
          <p:cNvPr id="22" name="Image 0" descr="/tmp/rasterized-gradient-7b6ecb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725" y="1183184"/>
            <a:ext cx="4457700" cy="18438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407027" y="1354634"/>
            <a:ext cx="41970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PREDICHO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407027" y="1545134"/>
            <a:ext cx="4197096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2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3300" dirty="0"/>
          </a:p>
        </p:txBody>
      </p:sp>
      <p:sp>
        <p:nvSpPr>
          <p:cNvPr id="25" name="Text 22"/>
          <p:cNvSpPr/>
          <p:nvPr/>
        </p:nvSpPr>
        <p:spPr>
          <a:xfrm>
            <a:off x="4407027" y="2169914"/>
            <a:ext cx="41970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minutos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448175" y="2456557"/>
            <a:ext cx="41148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6012437" y="2556570"/>
            <a:ext cx="40182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6012437" y="2695575"/>
            <a:ext cx="4018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 min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596886" y="2556570"/>
            <a:ext cx="40182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6596886" y="2695575"/>
            <a:ext cx="4018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min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276725" y="3122265"/>
            <a:ext cx="4457700" cy="438150"/>
          </a:xfrm>
          <a:prstGeom prst="roundRect">
            <a:avLst>
              <a:gd name="adj" fmla="val 1304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391025" y="3236565"/>
            <a:ext cx="1048643" cy="209550"/>
          </a:xfrm>
          <a:prstGeom prst="roundRect">
            <a:avLst>
              <a:gd name="adj" fmla="val 45455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505325" y="3274665"/>
            <a:ext cx="836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ALTA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534918" y="3274665"/>
            <a:ext cx="9911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0.85 para St37-20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276725" y="3655665"/>
            <a:ext cx="4457700" cy="790426"/>
          </a:xfrm>
          <a:prstGeom prst="roundRect">
            <a:avLst>
              <a:gd name="adj" fmla="val 723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391025" y="3769965"/>
            <a:ext cx="4313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377563" y="3979515"/>
            <a:ext cx="13730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</a:t>
            </a:r>
            <a:endParaRPr lang="en-US" sz="675" dirty="0"/>
          </a:p>
        </p:txBody>
      </p:sp>
      <p:sp>
        <p:nvSpPr>
          <p:cNvPr id="38" name="Text 35"/>
          <p:cNvSpPr/>
          <p:nvPr/>
        </p:nvSpPr>
        <p:spPr>
          <a:xfrm>
            <a:off x="4377563" y="4118521"/>
            <a:ext cx="13730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min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818964" y="3979515"/>
            <a:ext cx="13730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675" dirty="0"/>
          </a:p>
        </p:txBody>
      </p:sp>
      <p:sp>
        <p:nvSpPr>
          <p:cNvPr id="40" name="Text 37"/>
          <p:cNvSpPr/>
          <p:nvPr/>
        </p:nvSpPr>
        <p:spPr>
          <a:xfrm>
            <a:off x="5818964" y="4118521"/>
            <a:ext cx="13730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min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260364" y="3979515"/>
            <a:ext cx="13730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675" dirty="0"/>
          </a:p>
        </p:txBody>
      </p:sp>
      <p:sp>
        <p:nvSpPr>
          <p:cNvPr id="42" name="Text 39"/>
          <p:cNvSpPr/>
          <p:nvPr/>
        </p:nvSpPr>
        <p:spPr>
          <a:xfrm>
            <a:off x="7260364" y="4118521"/>
            <a:ext cx="13730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y Lecciones Aprendidas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552450"/>
            <a:ext cx="47625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1235571"/>
            <a:ext cx="4114800" cy="325636"/>
          </a:xfrm>
          <a:prstGeom prst="roundRect">
            <a:avLst>
              <a:gd name="adj" fmla="val 17550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0619" y="1311771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CORTE LÁSER - Viable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85750" y="1656457"/>
            <a:ext cx="4114800" cy="2005757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1789807"/>
            <a:ext cx="1876425" cy="596205"/>
          </a:xfrm>
          <a:prstGeom prst="roundRect">
            <a:avLst>
              <a:gd name="adj" fmla="val 6390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7491" y="1885057"/>
            <a:ext cx="17196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7491" y="2170807"/>
            <a:ext cx="17196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reales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2390775" y="1789807"/>
            <a:ext cx="1876425" cy="596205"/>
          </a:xfrm>
          <a:prstGeom prst="roundRect">
            <a:avLst>
              <a:gd name="adj" fmla="val 6390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69166" y="1885057"/>
            <a:ext cx="17196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69166" y="2170807"/>
            <a:ext cx="17196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global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19100" y="2481263"/>
            <a:ext cx="1876425" cy="596205"/>
          </a:xfrm>
          <a:prstGeom prst="roundRect">
            <a:avLst>
              <a:gd name="adj" fmla="val 6390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7491" y="2576513"/>
            <a:ext cx="17196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7491" y="2862263"/>
            <a:ext cx="17196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2390775" y="2481263"/>
            <a:ext cx="1876425" cy="596205"/>
          </a:xfrm>
          <a:prstGeom prst="roundRect">
            <a:avLst>
              <a:gd name="adj" fmla="val 6390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469166" y="2576513"/>
            <a:ext cx="17196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1.9×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69166" y="2862263"/>
            <a:ext cx="17196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calibración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19100" y="3191768"/>
            <a:ext cx="3848100" cy="337096"/>
          </a:xfrm>
          <a:prstGeom prst="roundRect">
            <a:avLst>
              <a:gd name="adj" fmla="val 1130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774" y="3287018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86.4% predicciones con error menor a 30s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591050" y="1233810"/>
            <a:ext cx="4114800" cy="325636"/>
          </a:xfrm>
          <a:prstGeom prst="roundRect">
            <a:avLst>
              <a:gd name="adj" fmla="val 17550"/>
            </a:avLst>
          </a:prstGeom>
          <a:solidFill>
            <a:srgbClr val="DC3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85919" y="1303525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PLEGADO - No viable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591050" y="1654696"/>
            <a:ext cx="4114800" cy="200575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24400" y="1781560"/>
            <a:ext cx="1876425" cy="596205"/>
          </a:xfrm>
          <a:prstGeom prst="roundRect">
            <a:avLst>
              <a:gd name="adj" fmla="val 6390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02791" y="1876810"/>
            <a:ext cx="17196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02791" y="2162560"/>
            <a:ext cx="17196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reales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6696075" y="1781560"/>
            <a:ext cx="1876425" cy="596205"/>
          </a:xfrm>
          <a:prstGeom prst="roundRect">
            <a:avLst>
              <a:gd name="adj" fmla="val 6390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774466" y="1876810"/>
            <a:ext cx="17196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0.27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74466" y="2162560"/>
            <a:ext cx="17196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global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724400" y="2473016"/>
            <a:ext cx="1876425" cy="596205"/>
          </a:xfrm>
          <a:prstGeom prst="roundRect">
            <a:avLst>
              <a:gd name="adj" fmla="val 6390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02791" y="2568266"/>
            <a:ext cx="17196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02791" y="2854016"/>
            <a:ext cx="17196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6696075" y="2473016"/>
            <a:ext cx="1876425" cy="596205"/>
          </a:xfrm>
          <a:prstGeom prst="roundRect">
            <a:avLst>
              <a:gd name="adj" fmla="val 6390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74466" y="2568266"/>
            <a:ext cx="17196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2-9×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74466" y="2854016"/>
            <a:ext cx="17196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sobreestimación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724400" y="3183521"/>
            <a:ext cx="3848100" cy="361950"/>
          </a:xfrm>
          <a:prstGeom prst="roundRect">
            <a:avLst>
              <a:gd name="adj" fmla="val 8333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19650" y="3278771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Causas:</a:t>
            </a:r>
            <a:r>
              <a:rPr lang="en-US" sz="7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Escasez de datos, sobreestimación extrema, variables ausentes (nº pliegues)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85750" y="4526310"/>
            <a:ext cx="8572500" cy="388590"/>
          </a:xfrm>
          <a:prstGeom prst="roundRect">
            <a:avLst>
              <a:gd name="adj" fmla="val 14707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74904" y="4640610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 metodológica: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enfoque requiere un mínimo crítico de datos reales. Con 216 funciona; con 64 no.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y Aplicaciones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552450"/>
            <a:ext cx="47625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1416397"/>
            <a:ext cx="4610100" cy="1601986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549747"/>
            <a:ext cx="44302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Propuesta de Valor para PYMES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19100" y="1818233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3954" y="1789658"/>
            <a:ext cx="1628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3900" y="1849636"/>
            <a:ext cx="26848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Cotizaciones rápidas</a:t>
            </a: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 procesamiento CAD completo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19100" y="2103983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3954" y="2075408"/>
            <a:ext cx="1628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2135386"/>
            <a:ext cx="23643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inversión masiva</a:t>
            </a: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infraestructura de datos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19100" y="2389733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3954" y="2361158"/>
            <a:ext cx="1628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3900" y="2421136"/>
            <a:ext cx="21144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replicable</a:t>
            </a: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nuevas máquinas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19100" y="2675483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3954" y="2646908"/>
            <a:ext cx="1628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3900" y="2706886"/>
            <a:ext cx="18532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Integrable con ERP</a:t>
            </a: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existentes via API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85750" y="3132683"/>
            <a:ext cx="4610100" cy="1118146"/>
          </a:xfrm>
          <a:prstGeom prst="roundRect">
            <a:avLst>
              <a:gd name="adj" fmla="val 5111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9100" y="3266033"/>
            <a:ext cx="44302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CONTRIBUCIÓN A ODS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19100" y="3507879"/>
            <a:ext cx="2114550" cy="6096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5110" y="3603129"/>
            <a:ext cx="19625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5110" y="3888879"/>
            <a:ext cx="19625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 e Innovación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647950" y="3507879"/>
            <a:ext cx="2114550" cy="6096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23960" y="3603129"/>
            <a:ext cx="19625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723960" y="3888879"/>
            <a:ext cx="19625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Responsable</a:t>
            </a:r>
            <a:endParaRPr lang="en-US" sz="750" dirty="0"/>
          </a:p>
        </p:txBody>
      </p:sp>
      <p:pic>
        <p:nvPicPr>
          <p:cNvPr id="26" name="Image 0" descr="/tmp/rasterized-gradient-6bba55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782092"/>
            <a:ext cx="3771900" cy="16896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219700" y="915442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CASOS DE USO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5219700" y="1157288"/>
            <a:ext cx="3505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Presupuestos preliminares en minutos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de capacidad productiva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secuencias de trabajo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piezas problemáticas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5086350" y="2586038"/>
            <a:ext cx="3771900" cy="1689646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19700" y="2719388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ENTREGABLES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5219700" y="2961233"/>
            <a:ext cx="3505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2,431 geometrías DXF</a:t>
            </a: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tiempos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notebooks</a:t>
            </a: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reproducibles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serializados</a:t>
            </a: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(.pkl)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PRE-calibración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5086350" y="4389983"/>
            <a:ext cx="3771900" cy="495300"/>
          </a:xfrm>
          <a:prstGeom prst="roundRect">
            <a:avLst>
              <a:gd name="adj" fmla="val 11538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200650" y="4504283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laboral:</a:t>
            </a: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sistema no reemplaza trabajadores, proporciona herramientas de apoyo.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Futuro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552450"/>
            <a:ext cx="47625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1115467"/>
            <a:ext cx="2743200" cy="337096"/>
          </a:xfrm>
          <a:prstGeom prst="roundRect">
            <a:avLst>
              <a:gd name="adj" fmla="val 16954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4335" y="1210717"/>
            <a:ext cx="2526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METODOLÓGICAS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85750" y="1547813"/>
            <a:ext cx="2743200" cy="2247900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1681163"/>
            <a:ext cx="2476500" cy="19812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Calibración adaptativa</a:t>
            </a: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aprendizaje continuo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adaptation (MMD, adversarial)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probabilísticos</a:t>
            </a: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confianza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Interpretabilidad con SHAP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81350" y="1248817"/>
            <a:ext cx="2743200" cy="337096"/>
          </a:xfrm>
          <a:prstGeom prst="roundRect">
            <a:avLst>
              <a:gd name="adj" fmla="val 16954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89935" y="1344067"/>
            <a:ext cx="2526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EXTENSIONES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181350" y="1681163"/>
            <a:ext cx="27432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14700" y="1814513"/>
            <a:ext cx="2476500" cy="1714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plegado</a:t>
            </a: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más datos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multi-máquina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Estimar </a:t>
            </a: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cutting_length</a:t>
            </a: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desde features básicas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ERP</a:t>
            </a: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 API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76950" y="1382167"/>
            <a:ext cx="2743200" cy="337096"/>
          </a:xfrm>
          <a:prstGeom prst="roundRect">
            <a:avLst>
              <a:gd name="adj" fmla="val 16954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85535" y="1477417"/>
            <a:ext cx="2526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VALIDACIÓN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076950" y="1814513"/>
            <a:ext cx="2743200" cy="171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57150" dist="13470" dir="27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0300" y="1947863"/>
            <a:ext cx="2476500" cy="14478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 longitudinal</a:t>
            </a: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6-12 meses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con </a:t>
            </a: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expertos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</a:t>
            </a: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Publicación</a:t>
            </a: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dataset y código</a:t>
            </a:r>
            <a:endParaRPr lang="en-US" sz="1350" dirty="0"/>
          </a:p>
        </p:txBody>
      </p:sp>
      <p:pic>
        <p:nvPicPr>
          <p:cNvPr id="16" name="Image 0" descr="/tmp/rasterized-gradient-5215de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4539704"/>
            <a:ext cx="8572500" cy="37519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74904" y="4654004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Difusión prevista:</a:t>
            </a: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Dataset sintético anonimizado + Artículo PRE vs POST + Código open source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552450"/>
            <a:ext cx="47625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1691878"/>
            <a:ext cx="4219575" cy="978991"/>
          </a:xfrm>
          <a:prstGeom prst="roundRect">
            <a:avLst>
              <a:gd name="adj" fmla="val 7784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0038" y="1691878"/>
            <a:ext cx="0" cy="978991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47675" y="182522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VIABILIDAD DEMOSTRADA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47675" y="2048024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sintéticos de TruTops Calculate viables cuando datos reales escasos.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47675" y="2289870"/>
            <a:ext cx="3924300" cy="247650"/>
          </a:xfrm>
          <a:prstGeom prst="roundRect">
            <a:avLst>
              <a:gd name="adj" fmla="val 11538"/>
            </a:avLst>
          </a:prstGeom>
          <a:solidFill>
            <a:srgbClr val="28A745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725" y="2347020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7DD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0.57 | MAE = 16.7s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638675" y="1691878"/>
            <a:ext cx="4219575" cy="978991"/>
          </a:xfrm>
          <a:prstGeom prst="roundRect">
            <a:avLst>
              <a:gd name="adj" fmla="val 7784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52963" y="1691878"/>
            <a:ext cx="0" cy="978991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00600" y="182522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 supera POST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00600" y="2048024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datos antes del entrenamiento supera al ajuste posterior.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00600" y="2289870"/>
            <a:ext cx="3924300" cy="247650"/>
          </a:xfrm>
          <a:prstGeom prst="roundRect">
            <a:avLst>
              <a:gd name="adj" fmla="val 11538"/>
            </a:avLst>
          </a:prstGeom>
          <a:solidFill>
            <a:srgbClr val="FF6B35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2347020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mejora en R²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85750" y="2785170"/>
            <a:ext cx="4219575" cy="636091"/>
          </a:xfrm>
          <a:prstGeom prst="roundRect">
            <a:avLst>
              <a:gd name="adj" fmla="val 1197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00038" y="2785170"/>
            <a:ext cx="0" cy="636091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47675" y="2918520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MODELOS SIMPLES GANAN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47675" y="3141315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supera a Random Forest y Gradient Boosting en transferencia de dominio.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38675" y="2785170"/>
            <a:ext cx="4219575" cy="636091"/>
          </a:xfrm>
          <a:prstGeom prst="roundRect">
            <a:avLst>
              <a:gd name="adj" fmla="val 1197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52963" y="2785170"/>
            <a:ext cx="0" cy="636091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800600" y="2918520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MÍNIMO CRÍTICO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00600" y="3141315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requiere mínimo de datos reales para calibración: con 216 funciona, con 64 no.</a:t>
            </a:r>
            <a:endParaRPr lang="en-US" sz="825" dirty="0"/>
          </a:p>
        </p:txBody>
      </p:sp>
      <p:pic>
        <p:nvPicPr>
          <p:cNvPr id="24" name="Image 0" descr="/tmp/rasterized-gradient-651396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3535561"/>
            <a:ext cx="8572500" cy="43993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336042" y="3668911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escasez de datos etiquetados, obstáculo frecuente en ML industrial, puede abordarse mediante integración de datos sintéticos.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23299" y="423118"/>
            <a:ext cx="149740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191000" y="1166068"/>
            <a:ext cx="76200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0277" y="1537543"/>
            <a:ext cx="22834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de Tiempos de Producción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30277" y="1762274"/>
            <a:ext cx="22834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mediante</a:t>
            </a:r>
            <a:r>
              <a:rPr lang="en-US" sz="10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</a:t>
            </a:r>
            <a:r>
              <a:rPr lang="en-US" sz="10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27325" y="2329904"/>
            <a:ext cx="2889349" cy="1518047"/>
          </a:xfrm>
          <a:prstGeom prst="roundRect">
            <a:avLst>
              <a:gd name="adj" fmla="val 627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87052" y="2520404"/>
            <a:ext cx="21698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Richter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87052" y="2844254"/>
            <a:ext cx="21698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Bef>
                <a:spcPts val="450"/>
              </a:spcBef>
            </a:pPr>
            <a:r>
              <a:rPr lang="en-US" sz="9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cs typeface="Arial" pitchFamily="34" charset="-120"/>
              </a:rPr>
              <a:t>Universitat</a:t>
            </a: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cs typeface="Arial" pitchFamily="34" charset="-120"/>
              </a:rPr>
              <a:t> Oberta de Catalunya (UOC)</a:t>
            </a:r>
            <a:endParaRPr lang="en-US" sz="900" dirty="0"/>
          </a:p>
          <a:p>
            <a:pPr algn="ctr">
              <a:lnSpc>
                <a:spcPts val="1260"/>
              </a:lnSpc>
              <a:spcBef>
                <a:spcPts val="450"/>
              </a:spcBef>
            </a:pPr>
            <a:r>
              <a:rPr lang="en-US" sz="9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Máster</a:t>
            </a: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Universitario </a:t>
            </a:r>
            <a:r>
              <a:rPr lang="en-US" sz="9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Ciencia de Datos (Data Science)</a:t>
            </a:r>
          </a:p>
        </p:txBody>
      </p:sp>
      <p:sp>
        <p:nvSpPr>
          <p:cNvPr id="12" name="Text 10"/>
          <p:cNvSpPr/>
          <p:nvPr/>
        </p:nvSpPr>
        <p:spPr>
          <a:xfrm>
            <a:off x="3175328" y="4228951"/>
            <a:ext cx="75082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75328" y="4587032"/>
            <a:ext cx="7508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disponibles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77074" y="4228951"/>
            <a:ext cx="8587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79115" y="4587032"/>
            <a:ext cx="985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 err="1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variabilidad</a:t>
            </a: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50" dirty="0" err="1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explicada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287444" y="4228951"/>
            <a:ext cx="6803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87444" y="4587032"/>
            <a:ext cx="6803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PRE-cal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1674</TotalTime>
  <Words>1270</Words>
  <Application>Microsoft Office PowerPoint</Application>
  <PresentationFormat>Presentación en pantalla (16:9)</PresentationFormat>
  <Paragraphs>320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Tiempos de Producción mediante Machine Learning</dc:title>
  <dc:subject>Trabajo Fin de Máster - Ciencia de Datos</dc:subject>
  <dc:creator>Stephan Richter</dc:creator>
  <cp:lastModifiedBy>Stephan Richter</cp:lastModifiedBy>
  <cp:revision>4</cp:revision>
  <dcterms:created xsi:type="dcterms:W3CDTF">2025-12-29T09:26:01Z</dcterms:created>
  <dcterms:modified xsi:type="dcterms:W3CDTF">2026-01-06T12:29:28Z</dcterms:modified>
</cp:coreProperties>
</file>